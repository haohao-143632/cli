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世界卫生组织和联合国儿童基金会建议:出生 1 小时内开始母乳喂养,前 6 个月纯母乳喂养,之后在添加辅食基础上可持续至 2 岁甚至更久。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母乳是为宝宝量身定制的天然食物,含丰富抗体,帮助抵御感染;好消化、好吸收;促进大脑视力发育;远期降低肥胖、过敏风险。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宝宝吸吮促进子宫收缩、帮助恢复;哺乳消耗脂肪助塑形;长期哺乳降低乳腺癌卵巢癌风险;母乳方便经济。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初乳被称为宝宝第一剂天然疫苗,富含免疫球蛋白,务必让宝宝尽早吃到,不要因量少而丢弃。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提倡早接触、早吸吮、早开奶。宝宝吸吮像信号,刺激越早越频繁,泌乳越快越足。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舒适姿势是成功第一步。摇篮式、橄榄球式、侧卧式皆可;做到三贴,头颈身体成直线,用枕头支撑更省力。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正确含接:嘴张大含住大部分乳晕,下唇外翻,下巴贴乳房。只含乳头会导致吃不饱和乳头皲裂。含接不当用手指轻压嘴角重新含接。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新生儿按需哺乳,每天约 8-12 次。觅食、吸手、咂嘴是早期饥饿信号;哭是很晚的信号,应在大哭前喂。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判断吃饱:每天尿湿6块以上、有吞咽声、吃后满足入睡、体重稳步增长。这些正常即说明奶量足够。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皲裂多因含接不当;胀奶要勤喂排空、冷敷;红肿热痛发烧警惕乳腺炎需就医;奶少多为暂时,靠多吸、多休息、放松改善。拿不准请咨询医生。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哺乳期均衡多样饮食,适量喝水,不盲目大补;戒烟酒,用药前告知医生;保证睡眠和好心情。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储存时间:室温≤4小时,冷藏3-4天,冷冻约6个月。标日期、先存先用;温水或冷藏解冻,勿用微波炉;解冻后别再冷冻。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辟谣:奶稀也有营养;普通感冒多可继续喂;半岁后母乳仍有营养需加辅食;攒奶并不会更多,越吸越有。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914400"/>
            <a:ext cx="1463040" cy="1463040"/>
          </a:xfrm>
          <a:prstGeom prst="ellipse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4937760"/>
            <a:ext cx="914400" cy="914400"/>
          </a:xfrm>
          <a:prstGeom prst="ellipse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5394960"/>
            <a:ext cx="731520" cy="731520"/>
          </a:xfrm>
          <a:prstGeom prst="ellipse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26D7E"/>
                </a:solidFill>
                <a:latin typeface="Microsoft YaHei"/>
              </a:rPr>
              <a:t>母乳喂养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Microsoft YaHei"/>
              </a:rPr>
              <a:t>给宝宝最好的第一份礼物  ·  妇产科健康科普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icrosoft YaHei"/>
              </a:rPr>
              <a:t>适用对象:孕产妇及家属  |  本课件为健康科普,不替代医生诊疗,具体请遵医嘱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WHO 喂养建议 · 本期内容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出生 1 小时内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尽早开始第一次母乳喂养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0–6 个月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坚持纯母乳喂养,无需额外喂水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6 个月后</a:t>
            </a:r>
            <a:r>
              <a:rPr sz="1800">
                <a:solidFill>
                  <a:srgbClr val="3A3A3A"/>
                </a:solidFill>
                <a:latin typeface="Microsoft YaHei"/>
              </a:rPr>
              <a:t>  添加辅食,母乳可持续到 2 岁及以上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本期讲什么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好处 · 初乳与三早 · 姿势含接 · 按需哺乳 · 常见问题 · 储存 · 误区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母乳对宝宝的好处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增强免疫力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富含抗体,减少腹泻、肺炎、中耳炎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好消化好吸收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呵护娇嫩肠胃,营养量身定制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促进大脑发育</a:t>
            </a:r>
            <a:r>
              <a:rPr sz="1800">
                <a:solidFill>
                  <a:srgbClr val="3A3A3A"/>
                </a:solidFill>
                <a:latin typeface="Microsoft YaHei"/>
              </a:rPr>
              <a:t>  优质脂肪与营养素助力大脑、视力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降低远期风险</a:t>
            </a:r>
            <a:r>
              <a:rPr sz="1800">
                <a:solidFill>
                  <a:srgbClr val="3A3A3A"/>
                </a:solidFill>
                <a:latin typeface="Microsoft YaHei"/>
              </a:rPr>
              <a:t>  肥胖、过敏及某些慢性病风险更低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母乳对妈妈的好处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促进子宫恢复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吸吮促进宫缩,减少产后出血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帮助产后塑形</a:t>
            </a:r>
            <a:r>
              <a:rPr sz="1800">
                <a:solidFill>
                  <a:srgbClr val="3A3A3A"/>
                </a:solidFill>
                <a:latin typeface="Microsoft YaHei"/>
              </a:rPr>
              <a:t>  消耗孕期储存脂肪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降低患癌风险</a:t>
            </a:r>
            <a:r>
              <a:rPr sz="1800">
                <a:solidFill>
                  <a:srgbClr val="3A3A3A"/>
                </a:solidFill>
                <a:latin typeface="Microsoft YaHei"/>
              </a:rPr>
              <a:t>  降低乳腺癌、卵巢癌风险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方便又经济</a:t>
            </a:r>
            <a:r>
              <a:rPr sz="1800">
                <a:solidFill>
                  <a:srgbClr val="3A3A3A"/>
                </a:solidFill>
                <a:latin typeface="Microsoft YaHei"/>
              </a:rPr>
              <a:t>  温度刚好,随时可喂,省心省钱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初乳:第一剂“天然疫苗”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金黄而珍贵</a:t>
            </a:r>
            <a:r>
              <a:rPr sz="1800">
                <a:solidFill>
                  <a:srgbClr val="3A3A3A"/>
                </a:solidFill>
                <a:latin typeface="Microsoft YaHei"/>
              </a:rPr>
              <a:t>  产后头几天分泌,颜色金黄,量少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天然免疫屏障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富含免疫球蛋白,肠道形成保护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切勿丢弃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别因量少挤掉,让宝宝尽早吃到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“三早”原则:越吸越有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早接触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出生后尽早肌肤接触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早吸吮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出生 1 小时内第一次吸吮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早开奶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吸吮是信号,越早越频繁,奶来得越快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正确的哺乳姿势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常用姿势</a:t>
            </a:r>
            <a:r>
              <a:rPr sz="1800">
                <a:solidFill>
                  <a:srgbClr val="3A3A3A"/>
                </a:solidFill>
                <a:latin typeface="Microsoft YaHei"/>
              </a:rPr>
              <a:t>  摇篮式 · 橄榄球式(环抱式) · 侧卧式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三贴原则</a:t>
            </a:r>
            <a:r>
              <a:rPr sz="1800">
                <a:solidFill>
                  <a:srgbClr val="3A3A3A"/>
                </a:solidFill>
                <a:latin typeface="Microsoft YaHei"/>
              </a:rPr>
              <a:t>  胸贴胸 · 腹贴腹 · 下巴贴乳房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一条直线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宝宝头、颈、身体保持直线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放松省力</a:t>
            </a:r>
            <a:r>
              <a:rPr sz="1800">
                <a:solidFill>
                  <a:srgbClr val="3A3A3A"/>
                </a:solidFill>
                <a:latin typeface="Microsoft YaHei"/>
              </a:rPr>
              <a:t>  用枕头支撑背部和手臂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正确含接(衔乳)要点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✔ 正确含接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嘴张大,含住乳头+大部分乳晕;下唇外翻;下巴贴乳房;脸颊鼓鼓。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74519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✘ 错误含接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只含乳头 → 吃不饱,易致乳头疼痛、皲裂。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为什么重要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含接对不对,直接决定能否吃饱、妈妈会不会痛。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160520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4160520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含接不当怎么办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00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手指轻压宝宝嘴角,让其松开后重新含接。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按需哺乳:读懂饥饿信号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按需哺乳</a:t>
            </a:r>
            <a:r>
              <a:rPr sz="1800">
                <a:solidFill>
                  <a:srgbClr val="3A3A3A"/>
                </a:solidFill>
                <a:latin typeface="Microsoft YaHei"/>
              </a:rPr>
              <a:t>  不必严格掐钟点,每天约 8–12 次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早期信号</a:t>
            </a:r>
            <a:r>
              <a:rPr sz="1800">
                <a:solidFill>
                  <a:srgbClr val="3A3A3A"/>
                </a:solidFill>
                <a:latin typeface="Microsoft YaHei"/>
              </a:rPr>
              <a:t>  转头觅食 · 吸吮小手 · 咂咂嘴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哭是晚信号</a:t>
            </a:r>
            <a:r>
              <a:rPr sz="1800">
                <a:solidFill>
                  <a:srgbClr val="3A3A3A"/>
                </a:solidFill>
                <a:latin typeface="Microsoft YaHei"/>
              </a:rPr>
              <a:t>  最好在宝宝大哭前就开始喂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怎么判断宝宝吃饱了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看尿布</a:t>
            </a:r>
            <a:r>
              <a:rPr sz="1800">
                <a:solidFill>
                  <a:srgbClr val="3A3A3A"/>
                </a:solidFill>
                <a:latin typeface="Microsoft YaHei"/>
              </a:rPr>
              <a:t>  一周后每天尿湿 ≥ 6 块,大便规律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听吞咽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吃奶时有“咕咚咕咚”吞咽声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看状态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吃完表情满足,安静入睡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看体重</a:t>
            </a:r>
            <a:r>
              <a:rPr sz="1800">
                <a:solidFill>
                  <a:srgbClr val="3A3A3A"/>
                </a:solidFill>
                <a:latin typeface="Microsoft YaHei"/>
              </a:rPr>
              <a:t>  体重稳步增长是最可靠指标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常见问题与对策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乳头皲裂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多因含接不当 → 纠正姿势;哺乳后涂少许乳汁晾干。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74519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乳房胀奶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勤喂、排空乳房;冷敷缓解肿胀。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警惕乳腺炎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红、肿、热、痛甚至发烧 → 及时就医,多可继续哺乳。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160520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4160520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感觉奶不够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00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多为暂时性 → 增加亲喂、有效吸吮、多休息、放松心情。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哺乳期妈妈的饮食与生活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均衡多样</a:t>
            </a:r>
            <a:r>
              <a:rPr sz="1800">
                <a:solidFill>
                  <a:srgbClr val="3A3A3A"/>
                </a:solidFill>
                <a:latin typeface="Microsoft YaHei"/>
              </a:rPr>
              <a:t>  主食 + 优质蛋白 + 蔬果 + 奶类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适量喝水</a:t>
            </a:r>
            <a:r>
              <a:rPr sz="1800">
                <a:solidFill>
                  <a:srgbClr val="3A3A3A"/>
                </a:solidFill>
                <a:latin typeface="Microsoft YaHei"/>
              </a:rPr>
              <a:t>  不必盲目大补、顿顿浓汤油腻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忌烟酒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咖啡浓茶适量;用药前先告知医生在哺乳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26D7E"/>
                </a:solidFill>
                <a:latin typeface="Microsoft YaHei"/>
              </a:rPr>
              <a:t>● 休息与心情</a:t>
            </a:r>
            <a:r>
              <a:rPr sz="1800">
                <a:solidFill>
                  <a:srgbClr val="3A3A3A"/>
                </a:solidFill>
                <a:latin typeface="Microsoft YaHei"/>
              </a:rPr>
              <a:t>  充足睡眠 + 好心情同样重要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母乳的挤出与储存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2011680"/>
          <a:ext cx="9966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存放方式</a:t>
                      </a:r>
                    </a:p>
                  </a:txBody>
                  <a:tcPr>
                    <a:solidFill>
                      <a:srgbClr val="E26D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建议时间</a:t>
                      </a:r>
                    </a:p>
                  </a:txBody>
                  <a:tcPr>
                    <a:solidFill>
                      <a:srgbClr val="E26D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提示</a:t>
                      </a:r>
                    </a:p>
                  </a:txBody>
                  <a:tcPr>
                    <a:solidFill>
                      <a:srgbClr val="E26D7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室温(约 25℃)</a:t>
                      </a:r>
                    </a:p>
                  </a:txBody>
                  <a:tcPr>
                    <a:solidFill>
                      <a:srgbClr val="FFF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≤ 4 小时</a:t>
                      </a:r>
                    </a:p>
                  </a:txBody>
                  <a:tcPr>
                    <a:solidFill>
                      <a:srgbClr val="FFF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标注日期,先存先用</a:t>
                      </a:r>
                    </a:p>
                  </a:txBody>
                  <a:tcPr>
                    <a:solidFill>
                      <a:srgbClr val="FFFB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冷藏室</a:t>
                      </a:r>
                    </a:p>
                  </a:txBody>
                  <a:tcPr>
                    <a:solidFill>
                      <a:srgbClr val="FD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3 – 4 天</a:t>
                      </a:r>
                    </a:p>
                  </a:txBody>
                  <a:tcPr>
                    <a:solidFill>
                      <a:srgbClr val="FD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置于内壁,避开冰箱门</a:t>
                      </a:r>
                    </a:p>
                  </a:txBody>
                  <a:tcPr>
                    <a:solidFill>
                      <a:srgbClr val="FDF3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冷冻</a:t>
                      </a:r>
                    </a:p>
                  </a:txBody>
                  <a:tcPr>
                    <a:solidFill>
                      <a:srgbClr val="FFF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约 6 个月</a:t>
                      </a:r>
                    </a:p>
                  </a:txBody>
                  <a:tcPr>
                    <a:solidFill>
                      <a:srgbClr val="FFF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解冻后不可再次冷冻</a:t>
                      </a:r>
                    </a:p>
                  </a:txBody>
                  <a:tcPr>
                    <a:solidFill>
                      <a:srgbClr val="FFFB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解冻方式</a:t>
                      </a:r>
                    </a:p>
                  </a:txBody>
                  <a:tcPr>
                    <a:solidFill>
                      <a:srgbClr val="FD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冷藏 / 温水</a:t>
                      </a:r>
                    </a:p>
                  </a:txBody>
                  <a:tcPr>
                    <a:solidFill>
                      <a:srgbClr val="FD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A3A3A"/>
                          </a:solidFill>
                          <a:latin typeface="Microsoft YaHei"/>
                        </a:rPr>
                        <a:t>切勿微波,以免破坏营养、烫伤</a:t>
                      </a:r>
                    </a:p>
                  </a:txBody>
                  <a:tcPr>
                    <a:solidFill>
                      <a:srgbClr val="FD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868680"/>
          </a:xfrm>
          <a:prstGeom prst="round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566928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A3A3A"/>
                </a:solidFill>
                <a:latin typeface="Microsoft YaHei"/>
              </a:rPr>
              <a:t>常见误区辟谣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81328"/>
            <a:ext cx="2926080" cy="50800"/>
          </a:xfrm>
          <a:prstGeom prst="rect">
            <a:avLst/>
          </a:prstGeom>
          <a:solidFill>
            <a:srgbClr val="F4A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✘ 奶太稀没营养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✔ 前段稀后段浓,前后都是营养,都要吃到。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74519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✘ 感冒生气不能喂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✔ 普通感冒戴口罩、勤洗手多可继续哺乳。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✘ 半岁后母乳没营养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✔ 母乳一直有营养,半岁后需在母乳基础上加辅食。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160520"/>
            <a:ext cx="4937760" cy="2011680"/>
          </a:xfrm>
          <a:prstGeom prst="roundRect">
            <a:avLst/>
          </a:prstGeom>
          <a:solidFill>
            <a:srgbClr val="FFFBFA"/>
          </a:solidFill>
          <a:ln w="19050">
            <a:solidFill>
              <a:srgbClr val="F4A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4160520"/>
            <a:ext cx="4937760" cy="548640"/>
          </a:xfrm>
          <a:prstGeom prst="roundRect">
            <a:avLst/>
          </a:prstGeom>
          <a:solidFill>
            <a:srgbClr val="4FB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✘ 攒着奶会更多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006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Microsoft YaHei"/>
              </a:rPr>
              <a:t>✔ 恰恰相反,排空勤吸才能越喂越多。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科学喂养 · 温暖陪伴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母乳喂养是妈妈和宝宝共同学习、彼此适应的过程,</a:t>
            </a:r>
          </a:p>
          <a:p>
            <a:pPr algn="ctr"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需要耐心,也需要家人的支持。</a:t>
            </a:r>
          </a:p>
          <a:p>
            <a:pPr algn="ctr"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遇到困难别独自硬扛,母乳喂养门诊随时为您提供帮助。</a:t>
            </a:r>
          </a:p>
          <a:p>
            <a:pPr algn="ctr"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愿每一位妈妈,都能享受这段温暖的时光。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E6E0"/>
                </a:solidFill>
                <a:latin typeface="Microsoft YaHei"/>
              </a:rPr>
              <a:t>母乳喂养门诊  |  咨询电话:[ ____ ]  |  [科室名称 · 二维码]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